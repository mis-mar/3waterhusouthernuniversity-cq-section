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3"/>
    <p:sldId id="257" r:id="rId4"/>
    <p:sldId id="258" r:id="rId5"/>
    <p:sldId id="260" r:id="rId6"/>
    <p:sldId id="263" r:id="rId7"/>
    <p:sldId id="264" r:id="rId8"/>
    <p:sldId id="271" r:id="rId9"/>
    <p:sldId id="275" r:id="rId10"/>
    <p:sldId id="269" r:id="rId11"/>
    <p:sldId id="272" r:id="rId12"/>
    <p:sldId id="311" r:id="rId13"/>
    <p:sldId id="312" r:id="rId14"/>
    <p:sldId id="276" r:id="rId15"/>
    <p:sldId id="277" r:id="rId16"/>
    <p:sldId id="266" r:id="rId17"/>
    <p:sldId id="290" r:id="rId18"/>
    <p:sldId id="291" r:id="rId19"/>
    <p:sldId id="267" r:id="rId20"/>
    <p:sldId id="273" r:id="rId21"/>
    <p:sldId id="274" r:id="rId22"/>
    <p:sldId id="279" r:id="rId23"/>
    <p:sldId id="280" r:id="rId24"/>
    <p:sldId id="281" r:id="rId25"/>
    <p:sldId id="282" r:id="rId26"/>
    <p:sldId id="284" r:id="rId27"/>
    <p:sldId id="285" r:id="rId28"/>
    <p:sldId id="286" r:id="rId29"/>
    <p:sldId id="287" r:id="rId30"/>
    <p:sldId id="288" r:id="rId31"/>
    <p:sldId id="289" r:id="rId32"/>
    <p:sldId id="292" r:id="rId33"/>
    <p:sldId id="294" r:id="rId34"/>
    <p:sldId id="295" r:id="rId35"/>
    <p:sldId id="296" r:id="rId36"/>
    <p:sldId id="297" r:id="rId37"/>
    <p:sldId id="298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notesMaster" Target="notesMasters/notesMaster1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1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8.xml"/><Relationship Id="rId4" Type="http://schemas.openxmlformats.org/officeDocument/2006/relationships/image" Target="../media/image17.emf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99.xml"/><Relationship Id="rId6" Type="http://schemas.openxmlformats.org/officeDocument/2006/relationships/image" Target="../media/image23.emf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0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基于</a:t>
            </a:r>
            <a:r>
              <a:rPr lang="en-US" altLang="zh-CN"/>
              <a:t>Godot</a:t>
            </a:r>
            <a:r>
              <a:rPr lang="zh-CN" altLang="en-US"/>
              <a:t>的即时策略游戏设计与实现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pPr algn="r"/>
            <a:r>
              <a:rPr lang="zh-CN" altLang="en-US" sz="2000"/>
              <a:t>赖盛智</a:t>
            </a:r>
            <a:r>
              <a:rPr lang="en-US" altLang="zh-CN" sz="2000"/>
              <a:t> 20231461</a:t>
            </a:r>
            <a:endParaRPr lang="en-US" altLang="zh-CN" sz="2000"/>
          </a:p>
          <a:p>
            <a:pPr algn="r"/>
            <a:r>
              <a:rPr lang="zh-CN" altLang="en-US" sz="2000"/>
              <a:t>涂浚稷</a:t>
            </a:r>
            <a:r>
              <a:rPr lang="en-US" altLang="zh-CN" sz="2000"/>
              <a:t> 20230353</a:t>
            </a:r>
            <a:endParaRPr lang="en-US" altLang="zh-CN" sz="200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1. </a:t>
            </a:r>
            <a:r>
              <a:rPr lang="zh-CN" altLang="en-US"/>
              <a:t>框架思路与技术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buNone/>
            </a:pPr>
            <a:r>
              <a:rPr lang="zh-CN" altLang="en-US"/>
              <a:t>游戏思路来源：网页联机游戏</a:t>
            </a:r>
            <a:r>
              <a:rPr lang="en-US" altLang="zh-CN"/>
              <a:t>general.io</a:t>
            </a:r>
            <a:endParaRPr lang="en-US" altLang="zh-CN"/>
          </a:p>
        </p:txBody>
      </p:sp>
      <p:pic>
        <p:nvPicPr>
          <p:cNvPr id="6" name="QQ录屏20250624145532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054225" y="2045335"/>
            <a:ext cx="8077200" cy="4521200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框架思路与技术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在原游戏基础上创新：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采用六角格地图替代四边形地图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改善画面和操作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拓展游戏层级，引入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general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层级扩大可行动力和游戏体量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在前者基础上大幅度拓展地图大小，丰富可玩程度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general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使用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作为自动化代理，使玩家可操作抽象层级上升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框架思路与技术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457200"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整体框架概述：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游戏采用分层架构，分为客户端、服务器和地图数据层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客户端负责玩家交互，服务器处理逻辑运算，地图数据层存储游戏状态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Godot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RPC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功能实现客户端与服务器的通信，确保数据同步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457200">
              <a:buNone/>
            </a:pP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技术选型：</a:t>
            </a:r>
            <a:endParaRPr lang="zh-CN" altLang="en-US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使用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Godot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引擎，因其开源、跨平台且开发功能完备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使用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Python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语言验证算法思路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数据结构架构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457200"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地图类封装与继承：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BaseMap			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作为抽象地图基础类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PlayerMap			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作为客户端地图类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FullMap			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作为服务端全局地图类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AlgorithmMap			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作为算法实现基础，封装附加数据内容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M2S_SearchAlgorithm	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作为本项目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M2S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算法的实现基础，封装所有方法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数据结构架构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457200"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通信机制和底层逻辑更新方法：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#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作为本项目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M2S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算法的实现基础，封装所有方法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游戏核心算法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457200"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本游戏核心算法①：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M2S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问题描述：</a:t>
            </a:r>
            <a:endParaRPr 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给出一个大小为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10*10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的棋盘，棋盘上零散地分布着一些价值点（输入坐标和价值记为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）和目标点（输入坐标和需求记为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），棋盘上还分布有障碍（输入坐标），所有输入数据均为整型，给出价值点到目标点的移动路径，移动为携带当前格价值整体移动，移动本身的代价固定为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问题解决：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多到单路径生成算法（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M2S)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构建节点价值影响辐射图，通过反向上升梯度寻路来获取节点，最后剪枝操作得到路径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游戏核心搜索算法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457200"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本游戏核心搜索算法①：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M2S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问题描述：</a:t>
            </a:r>
            <a:endParaRPr 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给出一个大小为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10*10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的棋盘，棋盘上零散地分布着一些价值点（输入坐标和价值记为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）和目标点（输入坐标和需求记为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），棋盘上还分布有障碍（输入坐标），所有输入数据均为整型，给出价值点到目标点的移动路径，移动为携带当前格价值整体移动，移动本身的代价固定为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问题解决：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多到单路径生成算法（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M2S)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构建节点价值影响辐射图，通过反向上升梯度寻路来获取节点，最后剪枝操作得到路径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游戏核心搜索算法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前向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BFS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建立影响热力图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以目标点为中心，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BFS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遍历所有节点，计算每个节点到目标点的距离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对每个节点进行价值预处理，并计算初始影响值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对有正影响的节点，进行影响力传播（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BFS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扩散），影响力随距离衰减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最终得到每个节点的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final_influence_map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（综合影响力）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反向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BFS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获取源点、路径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从目标点出发，优先队列（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PriorityQueue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）按影响力高低遍历节点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累计节点价值，直到满足需求值（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demand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）为止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记录所有满足条件的源点，并在搜索树中建立节点关系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剪枝与路径生成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对搜索树进行剪枝，移除无用节点，只保留与源点相关的路径。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后序遍历搜索树，生成最终的路径操作序列（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path_operations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游戏核心搜索算法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457200">
              <a:buNone/>
            </a:pP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Python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语言完成了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M2S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算法的测试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翻译封装至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Godot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复杂路径合并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操作顺序严格性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多态和智能避障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低噪声情况下最优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图片 3" descr="QQ图片20250626194956"/>
          <p:cNvPicPr>
            <a:picLocks noChangeAspect="1"/>
          </p:cNvPicPr>
          <p:nvPr/>
        </p:nvPicPr>
        <p:blipFill>
          <a:blip r:embed="rId1"/>
          <a:srcRect l="10229" t="3704" r="6927" b="5454"/>
          <a:stretch>
            <a:fillRect/>
          </a:stretch>
        </p:blipFill>
        <p:spPr>
          <a:xfrm>
            <a:off x="3865880" y="1871980"/>
            <a:ext cx="7903210" cy="487489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图片 11" descr="49C5F7980A5E38036DD51DD60EF1CE21"/>
          <p:cNvPicPr>
            <a:picLocks noChangeAspect="1"/>
          </p:cNvPicPr>
          <p:nvPr/>
        </p:nvPicPr>
        <p:blipFill>
          <a:blip r:embed="rId1"/>
          <a:srcRect l="9491" t="16528" r="23769" b="14917"/>
          <a:stretch>
            <a:fillRect/>
          </a:stretch>
        </p:blipFill>
        <p:spPr>
          <a:xfrm>
            <a:off x="664845" y="800735"/>
            <a:ext cx="5226050" cy="5368290"/>
          </a:xfrm>
          <a:prstGeom prst="rect">
            <a:avLst/>
          </a:prstGeom>
        </p:spPr>
      </p:pic>
      <p:pic>
        <p:nvPicPr>
          <p:cNvPr id="13" name="图片 12" descr="688DE79E4840BE8ECC3270BCB5250A95"/>
          <p:cNvPicPr>
            <a:picLocks noChangeAspect="1"/>
          </p:cNvPicPr>
          <p:nvPr/>
        </p:nvPicPr>
        <p:blipFill>
          <a:blip r:embed="rId2"/>
          <a:srcRect l="9148" t="16333" r="23333" b="14750"/>
          <a:stretch>
            <a:fillRect/>
          </a:stretch>
        </p:blipFill>
        <p:spPr>
          <a:xfrm>
            <a:off x="6318885" y="801370"/>
            <a:ext cx="5258435" cy="53676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图片 11" descr="C:/Users/TU/Desktop/3waterHUsouthernUniversity-CQ-Section-main/3waterHUsouthernUniversity-CQ-Section-main/非代码工作资源/报告、记录素材/E5FD329F5A89F974E802079CF4FE168D.pngE5FD329F5A89F974E802079CF4FE168D"/>
          <p:cNvPicPr>
            <a:picLocks noChangeAspect="1"/>
          </p:cNvPicPr>
          <p:nvPr/>
        </p:nvPicPr>
        <p:blipFill>
          <a:blip r:embed="rId1"/>
          <a:srcRect l="9078" t="16702" r="23176" b="15389"/>
          <a:stretch>
            <a:fillRect/>
          </a:stretch>
        </p:blipFill>
        <p:spPr>
          <a:xfrm>
            <a:off x="1138555" y="1127760"/>
            <a:ext cx="4702810" cy="4713605"/>
          </a:xfrm>
          <a:prstGeom prst="rect">
            <a:avLst/>
          </a:prstGeom>
        </p:spPr>
      </p:pic>
      <p:pic>
        <p:nvPicPr>
          <p:cNvPr id="13" name="图片 12" descr="C:/Users/TU/Desktop/3waterHUsouthernUniversity-CQ-Section-main/3waterHUsouthernUniversity-CQ-Section-main/非代码工作资源/报告、记录素材/E04485461A90A4354663993BF8590CAA.pngE04485461A90A4354663993BF8590CAA"/>
          <p:cNvPicPr>
            <a:picLocks noChangeAspect="1"/>
          </p:cNvPicPr>
          <p:nvPr/>
        </p:nvPicPr>
        <p:blipFill>
          <a:blip r:embed="rId2"/>
          <a:srcRect l="10269" t="16692" r="23838" b="15391"/>
          <a:stretch>
            <a:fillRect/>
          </a:stretch>
        </p:blipFill>
        <p:spPr>
          <a:xfrm>
            <a:off x="6381115" y="1127760"/>
            <a:ext cx="4578985" cy="47193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游戏核心搜索算法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457200"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本游戏核心搜索算法②：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kamikaze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对于视野未知情况，需要依靠贪心路径每回合摸索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算法思路：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从起点不断向未知目标（如山地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城市）冲刺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优先探索未发现区域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获取当前格子的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cell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信息，判断兵力是否足够（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cell.get_power() &gt; 1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Not_Found_in_sight_direction 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方法，统计视野范围内各方向的未知目标数量，选择未知目标最多的方向作为冲刺方向。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按该方向移动一步，发送移动指令（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send_path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），等待地图回合更新（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await turn_updated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重复上述过程，直到兵力不足或状态被切换。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 descr="IMG_0629"/>
          <p:cNvPicPr>
            <a:picLocks noChangeAspect="1"/>
          </p:cNvPicPr>
          <p:nvPr/>
        </p:nvPicPr>
        <p:blipFill>
          <a:blip r:embed="rId1"/>
          <a:srcRect l="13827" t="30194" r="1840" b="12583"/>
          <a:stretch>
            <a:fillRect/>
          </a:stretch>
        </p:blipFill>
        <p:spPr>
          <a:xfrm>
            <a:off x="7738110" y="276225"/>
            <a:ext cx="3894455" cy="35236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游戏核心搜索算法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1217910" cy="5141595"/>
          </a:xfrm>
        </p:spPr>
        <p:txBody>
          <a:bodyPr>
            <a:normAutofit lnSpcReduction="20000"/>
          </a:bodyPr>
          <a:p>
            <a:pPr marL="0" indent="457200">
              <a:buNone/>
            </a:pP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kamikaze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算法变体：动态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kamikaze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算法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在冲刺过程中动态调整视野范围和冲刺方向，添加路径代价统计，更智能地选择前进路径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初始视野为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，统计各方向的未知目标数量和代价（如敌方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己方节点价值）。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如果某方向未知目标数量为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，则不断扩大视野（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sight_range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），合并新视野内的节点统计，直到未知目标数量不为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计算每个方向的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综合得分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（未知目标数量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价值代价），选择得分最高且下一个格子不是山地的方向作为冲刺方向。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按该方向移动一步，发送移动指令，等待地图更新。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兵力足够时重复上述过程，动态调整冲刺方向和视野。。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综合得分计算：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计算每个方向的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比例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direction_ratio_Not_Found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direction_ratio_cost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），再综合成最终得分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direction_final_ratio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4.Agent</a:t>
            </a:r>
            <a:r>
              <a:rPr lang="zh-CN" altLang="en-US">
                <a:sym typeface="+mn-ea"/>
              </a:rPr>
              <a:t>和算法架构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457200"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玩家操作类层级：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Player_Entity		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作为玩家实体，内含多个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general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General_Entity		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general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实体，内含多个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，封装区域数据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ExpansionAgent		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作为应用于扩张状态的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DefenceAgent			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应用于防御状态的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Agent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玩家自顶向下进行高层级的抽象操作和指定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自底向上处理状态和返回路径操作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相关方法涉及到各种封装、信号调度和算法设计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IMG_06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3405" y="598805"/>
            <a:ext cx="3137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信号连接及</a:t>
            </a:r>
            <a:r>
              <a:rPr lang="en-US" altLang="zh-CN"/>
              <a:t>Agent</a:t>
            </a:r>
            <a:r>
              <a:rPr lang="zh-CN" altLang="en-US"/>
              <a:t>方法总图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 descr="IMG_06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3405" y="598805"/>
            <a:ext cx="3137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信号连接及</a:t>
            </a:r>
            <a:r>
              <a:rPr lang="en-US" altLang="zh-CN"/>
              <a:t>Agent</a:t>
            </a:r>
            <a:r>
              <a:rPr lang="zh-CN" altLang="en-US"/>
              <a:t>方法总图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4.Agent</a:t>
            </a:r>
            <a:r>
              <a:rPr lang="zh-CN" altLang="en-US">
                <a:sym typeface="+mn-ea"/>
              </a:rPr>
              <a:t>和算法架构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457200">
              <a:buNone/>
            </a:pP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ExpansionAgent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游戏开始时进行扩张的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核心方法：有限状态机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状态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SEARCHING_EMPTYCITY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状态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EMPTYCITY_OCCUPY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状态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EXPANSION_COMPLETE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ExpansionAgent_StateMachine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BaseState_ExpansionAgent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State_SearchingEmptycity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State_EmptycityOccupy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State_ExpansionComplete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317500"/>
            <a:ext cx="10968990" cy="5932170"/>
          </a:xfrm>
        </p:spPr>
        <p:txBody>
          <a:bodyPr>
            <a:normAutofit/>
          </a:bodyPr>
          <a:p>
            <a:pPr marL="0" lvl="2" indent="457200">
              <a:buNone/>
            </a:pPr>
            <a:r>
              <a: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状态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SEARCHING_EMPTYCITY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 descr="IMG_0626"/>
          <p:cNvPicPr>
            <a:picLocks noChangeAspect="1"/>
          </p:cNvPicPr>
          <p:nvPr/>
        </p:nvPicPr>
        <p:blipFill>
          <a:blip r:embed="rId1"/>
          <a:srcRect t="4701" b="15509"/>
          <a:stretch>
            <a:fillRect/>
          </a:stretch>
        </p:blipFill>
        <p:spPr>
          <a:xfrm>
            <a:off x="1237615" y="915035"/>
            <a:ext cx="9709785" cy="58102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765" y="191840"/>
            <a:ext cx="10969200" cy="705600"/>
          </a:xfrm>
        </p:spPr>
        <p:txBody>
          <a:bodyPr/>
          <a:p>
            <a:r>
              <a: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状态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SEARCHING_EMPTYCITY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：路径优先级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0</a:t>
            </a:r>
            <a:endParaRPr lang="en-US" altLang="zh-CN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8055"/>
            <a:ext cx="10968990" cy="5301615"/>
          </a:xfrm>
        </p:spPr>
        <p:txBody>
          <a:bodyPr>
            <a:normAutofit lnSpcReduction="20000"/>
          </a:bodyPr>
          <a:p>
            <a:pPr marL="0" indent="457200">
              <a:buNone/>
            </a:pPr>
            <a:r>
              <a: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两个循环</a:t>
            </a:r>
            <a:r>
              <a: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主体：</a:t>
            </a:r>
            <a:endParaRPr lang="zh-CN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is_vision_sufficient()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循环：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判断视野充分？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71600" lvl="3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视野充分且全部占领，切换至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EXPANSION_COMPLETE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3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视野充分但未全部占领，切换至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EMPTYCITY_OCCUPY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914400" lvl="2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否则回滚继续循环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to_found_empty_city()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循环：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Not_Found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中已计划搜索操作？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71600" lvl="3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选择搜索算法：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M2S or 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动态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kamikaze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71600" lvl="3" indent="457200">
              <a:buNone/>
            </a:pP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0">
              <a:buNone/>
            </a:pP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两个信号调控</a:t>
            </a: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4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on_city_find()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：发现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Not_Found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中城市，迁移状态至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EMPTYCITY_OCCUPY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on_place_not_found()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：添加入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Not_Found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，激活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to_found_empty_city()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循环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765" y="191840"/>
            <a:ext cx="10969200" cy="705600"/>
          </a:xfrm>
        </p:spPr>
        <p:txBody>
          <a:bodyPr/>
          <a:p>
            <a:r>
              <a: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状态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EMPTYCITY_OCCUPY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路径优先级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city_id</a:t>
            </a:r>
            <a:endParaRPr lang="en-US" altLang="zh-CN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8055"/>
            <a:ext cx="10968990" cy="5301615"/>
          </a:xfrm>
        </p:spPr>
        <p:txBody>
          <a:bodyPr>
            <a:normAutofit lnSpcReduction="20000"/>
          </a:bodyPr>
          <a:p>
            <a:pPr marL="0" indent="457200">
              <a:buNone/>
            </a:pPr>
            <a:r>
              <a: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循环</a:t>
            </a:r>
            <a:r>
              <a: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主体：</a:t>
            </a:r>
            <a:endParaRPr lang="zh-CN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to_occupy_city()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循环：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判断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Not_Occupy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队列非空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？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71600" lvl="3" indent="457200"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判断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could_occupy_empty_city()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M2S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算法？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828800" lvl="4" indent="457200"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发送路径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3" indent="0"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否则结束返回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SEARCHING_EMPTYCITY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状态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3" indent="0">
              <a:buNone/>
            </a:pP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0">
              <a:buNone/>
            </a:pP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信号调控</a:t>
            </a: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4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on_city_occupied()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：删除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Not_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Occupy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中城市，触发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to_occupy_city()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循环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765" y="191840"/>
            <a:ext cx="10969200" cy="705600"/>
          </a:xfrm>
        </p:spPr>
        <p:txBody>
          <a:bodyPr/>
          <a:p>
            <a:r>
              <a: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状态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EXPANSION_COMPLETE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8055"/>
            <a:ext cx="10968990" cy="5301615"/>
          </a:xfrm>
        </p:spPr>
        <p:txBody>
          <a:bodyPr>
            <a:normAutofit/>
          </a:bodyPr>
          <a:p>
            <a:pPr marL="457200" lvl="1" indent="457200">
              <a:buNone/>
            </a:pP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结束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ExpansionAgent</a:t>
            </a:r>
            <a:endParaRPr lang="en-US" altLang="zh-CN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发送信号至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General_Entity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，切换为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DefenceAgent</a:t>
            </a:r>
            <a:endParaRPr lang="en-US" altLang="zh-CN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对于整个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ExpansionAgent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，若敌方入侵触发</a:t>
            </a: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on_be_occupied_cell()</a:t>
            </a: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信号，则回滚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SEARCHING_EMPTYCITY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765" y="191840"/>
            <a:ext cx="10969200" cy="705600"/>
          </a:xfrm>
        </p:spPr>
        <p:txBody>
          <a:bodyPr/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ExpansionAgent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中路径管理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8055"/>
            <a:ext cx="10968990" cy="6075680"/>
          </a:xfrm>
        </p:spPr>
        <p:txBody>
          <a:bodyPr>
            <a:normAutofit fontScale="80000"/>
          </a:bodyPr>
          <a:p>
            <a:pPr marL="0" indent="457200">
              <a:buNone/>
            </a:pPr>
            <a:r>
              <a:rPr lang="en-US" altLang="zh-CN" sz="3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on_path_add()</a:t>
            </a:r>
            <a:r>
              <a:rPr lang="zh-CN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：读入状态发送信号</a:t>
            </a:r>
            <a:endParaRPr lang="zh-CN" altLang="en-US" sz="3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新路径加入时，按优先级分类存入不同队列</a:t>
            </a:r>
            <a:endParaRPr lang="zh-CN" altLang="en-US" sz="23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914400" lvl="2" indent="457200">
              <a:buNone/>
            </a:pP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搜索和占领队列：</a:t>
            </a:r>
            <a:r>
              <a:rPr lang="en-US" altLang="zh-CN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path_operations_search</a:t>
            </a: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和</a:t>
            </a:r>
            <a:r>
              <a:rPr lang="en-US" altLang="zh-CN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path_operations_city</a:t>
            </a:r>
            <a:endParaRPr lang="en-US" altLang="zh-CN" sz="23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若当前正在执行最低优先级（</a:t>
            </a:r>
            <a:r>
              <a:rPr lang="en-US" altLang="zh-CN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0</a:t>
            </a: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），且有高优先级新任务，则清空低优先级队列并切换状态</a:t>
            </a:r>
            <a:endParaRPr lang="zh-CN" altLang="en-US" sz="23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若</a:t>
            </a:r>
            <a:r>
              <a:rPr lang="en-US" altLang="zh-CN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path_manager </a:t>
            </a: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未在工作，则立即启动路径管理</a:t>
            </a:r>
            <a:endParaRPr lang="zh-CN" altLang="en-US" sz="23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3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path_manager()</a:t>
            </a:r>
            <a:r>
              <a:rPr lang="zh-CN" altLang="en-US" sz="3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：管理发送信号</a:t>
            </a:r>
            <a:endParaRPr lang="zh-CN" altLang="en-US" sz="3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优先处理城市相关路径（高优先级）：逐步执行每个</a:t>
            </a:r>
            <a:r>
              <a:rPr lang="en-US" altLang="zh-CN" sz="23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path_operations_city</a:t>
            </a:r>
            <a:r>
              <a:rPr lang="zh-CN" altLang="en-US" sz="23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中</a:t>
            </a: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路径</a:t>
            </a:r>
            <a:endParaRPr lang="zh-CN" altLang="en-US" sz="23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滞后处理普通搜索路径（优先级为</a:t>
            </a:r>
            <a:r>
              <a:rPr lang="en-US" altLang="zh-CN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0</a:t>
            </a: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）：逐步执行</a:t>
            </a:r>
            <a:r>
              <a:rPr lang="en-US" altLang="zh-CN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path_operations_search</a:t>
            </a:r>
            <a:r>
              <a:rPr lang="zh-CN" altLang="en-US" sz="23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中路径</a:t>
            </a:r>
            <a:endParaRPr lang="zh-CN" altLang="en-US" sz="23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如果在执行过程中发现优先级发生变化（如</a:t>
            </a:r>
            <a:r>
              <a:rPr lang="en-US" altLang="zh-CN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path_current_class != 0</a:t>
            </a: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），则清空低优先级队列并递归调用</a:t>
            </a:r>
            <a:r>
              <a:rPr lang="en-US" altLang="zh-CN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path_manager</a:t>
            </a:r>
            <a:r>
              <a:rPr lang="zh-CN" altLang="en-US" sz="23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，确保高优先级操作能及时插队</a:t>
            </a:r>
            <a:endParaRPr lang="zh-CN" altLang="en-US" sz="23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23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zh-CN" altLang="en-US" sz="25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保证高优先级（如城市占领）路径能随时插队，打断低优先级操作</a:t>
            </a:r>
            <a:endParaRPr lang="zh-CN" altLang="en-US" sz="25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4.Agent</a:t>
            </a:r>
            <a:r>
              <a:rPr lang="zh-CN" altLang="en-US">
                <a:sym typeface="+mn-ea"/>
              </a:rPr>
              <a:t>和算法架构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457200">
              <a:buNone/>
            </a:pP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DefenceAgent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游戏中期时进行防御的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核心方法：工作流和方法集合、优先级管理</a:t>
            </a:r>
            <a:endParaRPr 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STATE_SLEEP				</a:t>
            </a:r>
            <a:endParaRPr 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sz="20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STATE_ZONE_DIV</a:t>
            </a:r>
            <a:endParaRPr lang="zh-CN" sz="20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STATE_MAIN_GATHER		</a:t>
            </a:r>
            <a:r>
              <a:rPr 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STATE_NORMAL_GATHER</a:t>
            </a:r>
            <a:endParaRPr 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STATE_HUNT_DEFEND</a:t>
            </a: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	</a:t>
            </a:r>
            <a:endParaRPr 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STATE_CITY_DEFEND		</a:t>
            </a:r>
            <a:r>
              <a:rPr 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STATE_CITY_ACHIEVE</a:t>
            </a:r>
            <a:endParaRPr 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STATE_CPOINT_DEFEND		</a:t>
            </a:r>
            <a:r>
              <a:rPr 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STATE_CPOINT_ACHIEVE</a:t>
            </a:r>
            <a:endParaRPr 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STATE_EMPTY_DEFEND</a:t>
            </a:r>
            <a:endParaRPr 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STATE_REMAIN_POWER_DEAL</a:t>
            </a:r>
            <a:endParaRPr 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50510" y="8985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765" y="191840"/>
            <a:ext cx="10969200" cy="705600"/>
          </a:xfrm>
        </p:spPr>
        <p:txBody>
          <a:bodyPr/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DefenceAgent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工作流：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8055"/>
            <a:ext cx="10968990" cy="5301615"/>
          </a:xfrm>
        </p:spPr>
        <p:txBody>
          <a:bodyPr>
            <a:normAutofit/>
          </a:bodyPr>
          <a:p>
            <a:pPr marL="457200" lvl="1" indent="0">
              <a:buNone/>
            </a:pP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两种工作流：对应两种入侵信号</a:t>
            </a:r>
            <a:endParaRPr 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defend_class_trend()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914400" lvl="2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DIV_general_zone =&gt; is_city_occupyed =&gt; is_crucial_point_occupyed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828800" lvl="4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=&gt; is_city_path_reachable =&gt; is_crucial_point_reachable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828800" lvl="4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=&gt; general_zone_fill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urgent_defend_class_trend()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914400" lvl="2" indent="457200">
              <a:buNone/>
            </a:pP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is_city_occupyed =&gt; is_crucial_point_occupyed =&gt; 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DIV_general_zone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828800" lvl="4" indent="457200">
              <a:buNone/>
            </a:pP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=&gt; is_city_path_reachable =&gt; is_crucial_point_reachable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828800" lvl="4" indent="457200">
              <a:buNone/>
            </a:pP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=&gt; general_zone_fill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两种入侵信号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: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general_occupy_cell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普通节点占领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general_occupy_city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城市节点占领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765" y="191840"/>
            <a:ext cx="10969200" cy="705600"/>
          </a:xfrm>
        </p:spPr>
        <p:txBody>
          <a:bodyPr/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DefenceAgent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手动方法：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8055"/>
            <a:ext cx="10968990" cy="5301615"/>
          </a:xfrm>
        </p:spPr>
        <p:txBody>
          <a:bodyPr>
            <a:normAutofit/>
          </a:bodyPr>
          <a:p>
            <a:pPr marL="457200" lvl="1" indent="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defend_main_city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：集中兵力至主城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concentrate_power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：集中兵力至某点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M2S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算法实现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hunt_enemy_power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：主动消灭入侵敌方兵力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765" y="191840"/>
            <a:ext cx="10969200" cy="705600"/>
          </a:xfrm>
        </p:spPr>
        <p:txBody>
          <a:bodyPr/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DefenceAgent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自动方法：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8055"/>
            <a:ext cx="10968990" cy="5301615"/>
          </a:xfrm>
        </p:spPr>
        <p:txBody>
          <a:bodyPr>
            <a:normAutofit/>
          </a:bodyPr>
          <a:p>
            <a:pPr marL="457200" lvl="1" indent="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DIV_general_zone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划分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general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的理论领土范围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对当前节点进行分块：双层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BFS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方法：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外层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BFS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遍历所有节点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内层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BFS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使用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build_block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动态分块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914400" lvl="2" indent="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计算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general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所属所有节点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914400" lvl="2" indent="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记录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point_of_general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和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edge_of_general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数据（用于参数分析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block_updated_positive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随占领信号更新，连接两个分块，更新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point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和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edge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参数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765" y="191840"/>
            <a:ext cx="10969200" cy="705600"/>
          </a:xfrm>
        </p:spPr>
        <p:txBody>
          <a:bodyPr/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DefenceAgent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自动方法：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8055"/>
            <a:ext cx="10968990" cy="5301615"/>
          </a:xfrm>
        </p:spPr>
        <p:txBody>
          <a:bodyPr>
            <a:normAutofit/>
          </a:bodyPr>
          <a:p>
            <a:pPr marL="457200" lvl="1" indent="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is_city_occupyed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BFS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遍历区域内城市，判断被占领状态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occupy_invaded_city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M2S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算法占领被入侵的城市，优先占领被入侵难度最低城市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is_crucial_point_occupyed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方法同上，目标对象为关键节点（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crucial_point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occupy_invaded_Cpoint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方法同上，目标对象为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关键节点（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crucial_point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765" y="191840"/>
            <a:ext cx="10969200" cy="705600"/>
          </a:xfrm>
        </p:spPr>
        <p:txBody>
          <a:bodyPr/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DefenceAgent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自动方法：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8055"/>
            <a:ext cx="10968990" cy="5301615"/>
          </a:xfrm>
        </p:spPr>
        <p:txBody>
          <a:bodyPr>
            <a:normAutofit/>
          </a:bodyPr>
          <a:p>
            <a:pPr marL="457200" lvl="1" indent="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is_city_path_reachable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主城出发，建立星型网络拓扑结构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若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城市不可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连通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，则待处理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connect_abandoned_city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动态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kamikaze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算法连通城市（即连通分块），估价函数为视野方向内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block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和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cost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is_crucial_point_reachable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方法同上，目标对象为关键节点（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crucial_point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connect_abandoned_Cpoint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方法同上，目标对象为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关键节点（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crucial_point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765" y="191840"/>
            <a:ext cx="10969200" cy="705600"/>
          </a:xfrm>
        </p:spPr>
        <p:txBody>
          <a:bodyPr/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DefenceAgent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自动方法：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8055"/>
            <a:ext cx="10968990" cy="5301615"/>
          </a:xfrm>
        </p:spPr>
        <p:txBody>
          <a:bodyPr>
            <a:normAutofit/>
          </a:bodyPr>
          <a:p>
            <a:pPr marL="457200" lvl="1" indent="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general_zone_fill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填充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领土范围的所有节点，采用队列方法</a:t>
            </a:r>
            <a:endParaRPr lang="zh-CN" alt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914400" lvl="2" indent="457200">
              <a:buNone/>
            </a:pP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若不属于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general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，则从邻居节点调度来占领</a:t>
            </a:r>
            <a:endParaRPr lang="zh-CN" alt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3" indent="457200">
              <a:buNone/>
            </a:pP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若无法占领则添加至队列尾</a:t>
            </a:r>
            <a:endParaRPr lang="zh-CN" alt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3" indent="457200">
              <a:buNone/>
            </a:pP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若可以占领则逐步操作（依一回合更新）</a:t>
            </a:r>
            <a:endParaRPr lang="zh-CN" altLang="en-US" sz="1575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move_power_to_nearest_city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处理过剩路径，直接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A*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算法导航至最近城市处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核心原则：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兵力永远集中于城市或者关键点处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765" y="191840"/>
            <a:ext cx="10969200" cy="705600"/>
          </a:xfrm>
        </p:spPr>
        <p:txBody>
          <a:bodyPr/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DefenceAgent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中路径管理：使用优先队列（堆）方法管理优先级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047750"/>
            <a:ext cx="10968990" cy="5975985"/>
          </a:xfrm>
        </p:spPr>
        <p:txBody>
          <a:bodyPr>
            <a:normAutofit lnSpcReduction="20000"/>
          </a:bodyPr>
          <a:p>
            <a:pPr marL="0" indent="457200">
              <a:buNone/>
            </a:pP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on_path_add()</a:t>
            </a: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：读入状态发送信号</a:t>
            </a:r>
            <a:endParaRPr lang="zh-CN" altLang="en-US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新路径加入时，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若优先级高于当前正在执行的任务，则弹出低优先级任务，插队执行高优先级任务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914400" lvl="2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否则插入至堆底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新任务加入队列后，若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path_manager 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未在工作，则立即启动路径管理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path_manager()</a:t>
            </a: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：管理发送信号</a:t>
            </a:r>
            <a:endParaRPr lang="zh-CN" altLang="en-US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外层循环：只要队列不为空，就持续处理路径任务。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每次取出队首优先级（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peek_priority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），遍历队首路径（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peek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），逐步执行每个路径。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如果执行过程中发现优先级发生变化，则中断本轮，跳出循环。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若未发生优先级变化，则弹出队首任务（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pop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），继续下一轮。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1" indent="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保证高优先级路径能随时插队，打断低优先级操作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9010" y="4916805"/>
            <a:ext cx="3171825" cy="1714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4.Agent</a:t>
            </a:r>
            <a:r>
              <a:rPr lang="zh-CN" altLang="en-US">
                <a:sym typeface="+mn-ea"/>
              </a:rPr>
              <a:t>和算法架构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457200">
              <a:buNone/>
            </a:pP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General_Entity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general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实体，组织各种信号连接，维护所有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路径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各种估价函数以分析当前状态</a:t>
            </a:r>
            <a:endParaRPr 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 algn="l" defTabSz="914400">
              <a:buClrTx/>
              <a:buSzTx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endParaRPr 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50510" y="8985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790" y="3060065"/>
            <a:ext cx="7077075" cy="23336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575" y="3060065"/>
            <a:ext cx="5105400" cy="3086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5.</a:t>
            </a:r>
            <a:r>
              <a:rPr lang="zh-CN" altLang="en-US">
                <a:sym typeface="+mn-ea"/>
              </a:rPr>
              <a:t>估价函数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calculate_full_power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：计算全部兵力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calculate_mean_power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：计算平均兵力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calculate_Morans_I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：计算莫兰指数（兵力集中程度）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calculate_Standard_Deviation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：计算兵力标准差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calculate_connection_degree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：计算连接程度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5.</a:t>
            </a:r>
            <a:r>
              <a:rPr lang="zh-CN" altLang="en-US">
                <a:sym typeface="+mn-ea"/>
              </a:rPr>
              <a:t>估价函数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calculate_Morans_I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：计算莫兰指数（兵力集中程度）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使用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Python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语言验证：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9090" y="1971040"/>
            <a:ext cx="3886200" cy="819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85" y="3479800"/>
            <a:ext cx="4248150" cy="24955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365" y="3484245"/>
            <a:ext cx="2476500" cy="20955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480" y="3223260"/>
            <a:ext cx="4541520" cy="36347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35" y="3943350"/>
            <a:ext cx="4019550" cy="2476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730" y="3943350"/>
            <a:ext cx="2790825" cy="2019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405" y="3251835"/>
            <a:ext cx="4506595" cy="36061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95" y="346075"/>
            <a:ext cx="3457575" cy="24574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730" y="346075"/>
            <a:ext cx="2428875" cy="20574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1920" y="0"/>
            <a:ext cx="4450080" cy="356108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5.</a:t>
            </a:r>
            <a:r>
              <a:rPr lang="zh-CN" altLang="en-US">
                <a:sym typeface="+mn-ea"/>
              </a:rPr>
              <a:t>估价函数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457200">
              <a:buNone/>
            </a:pP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calculate_connection_degree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：计算连接程度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边总数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节点总数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数学原理：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最理想连接状态：所有节点处于单一路径上，一条路径完成所有遍历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71600" lvl="3" indent="45720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此时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X -&gt; 1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914400" lvl="2" indent="0">
              <a:buNone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最糟糕连接状态：所有节点密集充分填充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71600" lvl="3" indent="457200"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此时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X -&gt; 3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3" indent="457200"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最糟糕连接状态：所有节点互不相连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6" indent="457200">
              <a:buNone/>
            </a:pPr>
            <a:r>
              <a:rPr lang="zh-CN" altLang="en-US" sz="20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此时 X -&gt; </a:t>
            </a:r>
            <a:r>
              <a:rPr lang="en-US" altLang="zh-CN" sz="20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0</a:t>
            </a:r>
            <a:endParaRPr lang="en-US" altLang="zh-CN" sz="20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6" indent="457200">
              <a:buNone/>
            </a:pPr>
            <a:endParaRPr lang="en-US" altLang="zh-CN" sz="20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lvl="4" indent="0">
              <a:buNone/>
            </a:pPr>
            <a:r>
              <a:rPr lang="zh-CN" altLang="en-US" sz="20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设计估价函数如右图：</a:t>
            </a:r>
            <a:endParaRPr lang="zh-CN" altLang="en-US" sz="20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0220" y="1933575"/>
            <a:ext cx="3590925" cy="742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365" y="4437380"/>
            <a:ext cx="5597525" cy="21437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6005</Words>
  <Application>WPS 演示</Application>
  <PresentationFormat>宽屏</PresentationFormat>
  <Paragraphs>425</Paragraphs>
  <Slides>36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Arial</vt:lpstr>
      <vt:lpstr>宋体</vt:lpstr>
      <vt:lpstr>Wingdings</vt:lpstr>
      <vt:lpstr>Wingdings</vt:lpstr>
      <vt:lpstr>黑体</vt:lpstr>
      <vt:lpstr>微软雅黑</vt:lpstr>
      <vt:lpstr>Arial Unicode MS</vt:lpstr>
      <vt:lpstr>Calibri</vt:lpstr>
      <vt:lpstr>WPS</vt:lpstr>
      <vt:lpstr>基于Godot的即时策略游戏设计与实现</vt:lpstr>
      <vt:lpstr>1. 框架思路与技术</vt:lpstr>
      <vt:lpstr>1. 框架思路与技术</vt:lpstr>
      <vt:lpstr>1. 框架思路与技术</vt:lpstr>
      <vt:lpstr>2. 数据结构架构</vt:lpstr>
      <vt:lpstr>2. 数据结构架构</vt:lpstr>
      <vt:lpstr>3.游戏核心算法</vt:lpstr>
      <vt:lpstr>3.游戏核心搜索算法</vt:lpstr>
      <vt:lpstr>3.游戏核心搜索算法</vt:lpstr>
      <vt:lpstr>3.游戏核心搜索算法</vt:lpstr>
      <vt:lpstr>3.游戏核心搜索算法</vt:lpstr>
      <vt:lpstr>PowerPoint 演示文稿</vt:lpstr>
      <vt:lpstr>3.游戏核心搜索算法</vt:lpstr>
      <vt:lpstr>3.游戏核心搜索算法</vt:lpstr>
      <vt:lpstr>4.Agent和算法架构</vt:lpstr>
      <vt:lpstr>PowerPoint 演示文稿</vt:lpstr>
      <vt:lpstr>PowerPoint 演示文稿</vt:lpstr>
      <vt:lpstr>4.Agent和算法架构</vt:lpstr>
      <vt:lpstr>PowerPoint 演示文稿</vt:lpstr>
      <vt:lpstr>状态1：SEARCHING_EMPTYCITY：路径优先级0</vt:lpstr>
      <vt:lpstr>状态2：EMPTYCITY_OCCUPY：路径优先级city_id</vt:lpstr>
      <vt:lpstr>状态3：EXPANSION_COMPLETE：</vt:lpstr>
      <vt:lpstr>ExpansionAgent中路径管理</vt:lpstr>
      <vt:lpstr>4.Agent和算法架构</vt:lpstr>
      <vt:lpstr>DefenceAgent工作流：</vt:lpstr>
      <vt:lpstr>DefenceAgent手动方法：</vt:lpstr>
      <vt:lpstr>DefenceAgent自动方法：</vt:lpstr>
      <vt:lpstr>DefenceAgent自动方法：</vt:lpstr>
      <vt:lpstr>DefenceAgent自动方法：</vt:lpstr>
      <vt:lpstr>DefenceAgent自动方法：</vt:lpstr>
      <vt:lpstr>DefenceAgent中路径管理：使用优先队列（堆）方法管理优先级</vt:lpstr>
      <vt:lpstr>4.Agent和算法架构</vt:lpstr>
      <vt:lpstr>5.估价函数</vt:lpstr>
      <vt:lpstr>5.估价函数</vt:lpstr>
      <vt:lpstr>PowerPoint 演示文稿</vt:lpstr>
      <vt:lpstr>5.估价函数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TU</cp:lastModifiedBy>
  <cp:revision>161</cp:revision>
  <dcterms:created xsi:type="dcterms:W3CDTF">2019-06-19T02:08:00Z</dcterms:created>
  <dcterms:modified xsi:type="dcterms:W3CDTF">2025-07-11T04:05:44Z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3890998CABEB45F0BD3704D57F825EEF_11</vt:lpwstr>
  </property>
</Properties>
</file>